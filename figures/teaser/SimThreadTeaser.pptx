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17" dt="2026-09-14T17:54:29.059"/>
    <p1510:client id="{80C693E6-ECFF-4BFD-A2D4-80194BBE7C2E}" v="127" dt="2026-09-14T19:42:55.9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BFFA3B0-2325-4284-98B4-7B1130686885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CCCA288-4CBE-4120-B03F-649CD11EFA34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/>
          <p:nvPr/>
        </p:nvPicPr>
        <p:blipFill>
          <a:blip r:embed="rId2"/>
          <a:stretch/>
        </p:blipFill>
        <p:spPr>
          <a:xfrm>
            <a:off x="254160" y="584280"/>
            <a:ext cx="3301920" cy="1860480"/>
          </a:xfrm>
          <a:prstGeom prst="rect">
            <a:avLst/>
          </a:prstGeom>
          <a:ln w="0">
            <a:noFill/>
          </a:ln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830E5B0D-4D63-4E1C-C594-2BA7F330251E}"/>
              </a:ext>
            </a:extLst>
          </p:cNvPr>
          <p:cNvGrpSpPr/>
          <p:nvPr/>
        </p:nvGrpSpPr>
        <p:grpSpPr>
          <a:xfrm>
            <a:off x="254160" y="2565360"/>
            <a:ext cx="3301920" cy="393840"/>
            <a:chOff x="254160" y="2565360"/>
            <a:chExt cx="3301920" cy="393840"/>
          </a:xfrm>
        </p:grpSpPr>
        <p:sp>
          <p:nvSpPr>
            <p:cNvPr id="9" name="Rectangle: Rounded Corners 8"/>
            <p:cNvSpPr/>
            <p:nvPr/>
          </p:nvSpPr>
          <p:spPr>
            <a:xfrm>
              <a:off x="254160" y="2565360"/>
              <a:ext cx="3301920" cy="393840"/>
            </a:xfrm>
            <a:prstGeom prst="roundRect">
              <a:avLst/>
            </a:prstGeom>
            <a:solidFill>
              <a:srgbClr val="DCEAFA"/>
            </a:solidFill>
            <a:ln w="15840">
              <a:solidFill>
                <a:srgbClr val="6696CE"/>
              </a:solidFill>
              <a:round/>
            </a:ln>
          </p:spPr>
          <p:txBody>
            <a:bodyPr lIns="97920" tIns="52920" rIns="97920" bIns="52920" anchor="ctr" anchorCtr="1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35145" y="2597074"/>
              <a:ext cx="3139950" cy="330412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050" b="1" strike="noStrike" spc="-1">
                  <a:solidFill>
                    <a:srgbClr val="1B222B"/>
                  </a:solidFill>
                  <a:latin typeface="Arial"/>
                </a:rPr>
                <a:t>1  Single-Turn Teacher Policy Training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3932000" y="553760"/>
            <a:ext cx="4244440" cy="44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500" b="1" strike="noStrike" spc="-1">
                <a:solidFill>
                  <a:srgbClr val="1B222B"/>
                </a:solidFill>
                <a:latin typeface="Arial"/>
              </a:rPr>
              <a:t>2  Cyclic State-Machine Replay</a:t>
            </a:r>
          </a:p>
        </p:txBody>
      </p:sp>
      <p:sp>
        <p:nvSpPr>
          <p:cNvPr id="11" name="Rectangle: Rounded Corners 10"/>
          <p:cNvSpPr/>
          <p:nvPr/>
        </p:nvSpPr>
        <p:spPr>
          <a:xfrm>
            <a:off x="3907905" y="600300"/>
            <a:ext cx="4254480" cy="1860480"/>
          </a:xfrm>
          <a:prstGeom prst="roundRect">
            <a:avLst/>
          </a:prstGeom>
          <a:solidFill>
            <a:srgbClr val="F8FBF6"/>
          </a:solidFill>
          <a:ln w="19050">
            <a:solidFill>
              <a:srgbClr val="69B744"/>
            </a:solidFill>
            <a:round/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txBody>
          <a:bodyPr lIns="97920" tIns="52920" rIns="97920" bIns="5292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64040" y="57240"/>
            <a:ext cx="4064040" cy="515520"/>
          </a:xfrm>
          <a:prstGeom prst="rect">
            <a:avLst/>
          </a:prstGeom>
          <a:noFill/>
          <a:ln w="0">
            <a:solidFill>
              <a:schemeClr val="bg1"/>
            </a:solidFill>
          </a:ln>
        </p:spPr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3000" b="1" strike="noStrike" spc="-1">
                <a:solidFill>
                  <a:srgbClr val="1B222B"/>
                </a:solidFill>
                <a:latin typeface="Arial"/>
              </a:rPr>
              <a:t>SimThreadReal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5433320-A9C9-DB53-0D44-978F8916004D}"/>
              </a:ext>
            </a:extLst>
          </p:cNvPr>
          <p:cNvGrpSpPr/>
          <p:nvPr/>
        </p:nvGrpSpPr>
        <p:grpSpPr>
          <a:xfrm>
            <a:off x="5118120" y="952560"/>
            <a:ext cx="857160" cy="342720"/>
            <a:chOff x="5118120" y="952560"/>
            <a:chExt cx="857160" cy="342720"/>
          </a:xfrm>
        </p:grpSpPr>
        <p:sp>
          <p:nvSpPr>
            <p:cNvPr id="15" name="Rectangle: Rounded Corners 14"/>
            <p:cNvSpPr/>
            <p:nvPr/>
          </p:nvSpPr>
          <p:spPr>
            <a:xfrm>
              <a:off x="5118120" y="952560"/>
              <a:ext cx="857160" cy="342720"/>
            </a:xfrm>
            <a:prstGeom prst="roundRect">
              <a:avLst/>
            </a:prstGeom>
            <a:solidFill>
              <a:srgbClr val="EEF2F6"/>
            </a:solidFill>
            <a:ln w="9360">
              <a:solidFill>
                <a:srgbClr val="9AA6B2"/>
              </a:solidFill>
              <a:round/>
            </a:ln>
          </p:spPr>
          <p:txBody>
            <a:bodyPr lIns="94680" tIns="49680" rIns="94680" bIns="49680" anchor="ctr" anchorCtr="1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128280" y="1033840"/>
              <a:ext cx="826720" cy="1733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050" b="1" strike="noStrike" spc="-1">
                  <a:solidFill>
                    <a:srgbClr val="1B222B"/>
                  </a:solidFill>
                  <a:latin typeface="Arial"/>
                </a:rPr>
                <a:t>Release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CEAEDB1E-80B1-A9EA-BDBD-05E0AE4B7857}"/>
              </a:ext>
            </a:extLst>
          </p:cNvPr>
          <p:cNvGrpSpPr/>
          <p:nvPr/>
        </p:nvGrpSpPr>
        <p:grpSpPr>
          <a:xfrm>
            <a:off x="7162920" y="952560"/>
            <a:ext cx="874680" cy="342720"/>
            <a:chOff x="7162920" y="952560"/>
            <a:chExt cx="874680" cy="342720"/>
          </a:xfrm>
        </p:grpSpPr>
        <p:sp>
          <p:nvSpPr>
            <p:cNvPr id="19" name="Rectangle: Rounded Corners 18"/>
            <p:cNvSpPr/>
            <p:nvPr/>
          </p:nvSpPr>
          <p:spPr>
            <a:xfrm>
              <a:off x="7162920" y="952560"/>
              <a:ext cx="870120" cy="342720"/>
            </a:xfrm>
            <a:prstGeom prst="roundRect">
              <a:avLst/>
            </a:prstGeom>
            <a:solidFill>
              <a:srgbClr val="EEF2F6"/>
            </a:solidFill>
            <a:ln w="9360">
              <a:solidFill>
                <a:srgbClr val="9AA6B2"/>
              </a:solidFill>
              <a:round/>
            </a:ln>
          </p:spPr>
          <p:txBody>
            <a:bodyPr lIns="94680" tIns="49680" rIns="94680" bIns="49680" anchor="ctr" anchorCtr="1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167800" y="1023680"/>
              <a:ext cx="869800" cy="1936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050" b="1" strike="noStrike" spc="-1">
                  <a:solidFill>
                    <a:srgbClr val="1B222B"/>
                  </a:solidFill>
                  <a:latin typeface="Arial"/>
                </a:rPr>
                <a:t>Re-engage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8E75302-6046-1D5C-B061-E64AB9145475}"/>
              </a:ext>
            </a:extLst>
          </p:cNvPr>
          <p:cNvGrpSpPr/>
          <p:nvPr/>
        </p:nvGrpSpPr>
        <p:grpSpPr>
          <a:xfrm>
            <a:off x="6140520" y="952560"/>
            <a:ext cx="857160" cy="342720"/>
            <a:chOff x="6140520" y="952560"/>
            <a:chExt cx="857160" cy="342720"/>
          </a:xfrm>
        </p:grpSpPr>
        <p:sp>
          <p:nvSpPr>
            <p:cNvPr id="17" name="Rectangle: Rounded Corners 16"/>
            <p:cNvSpPr/>
            <p:nvPr/>
          </p:nvSpPr>
          <p:spPr>
            <a:xfrm>
              <a:off x="6140520" y="952560"/>
              <a:ext cx="857160" cy="342720"/>
            </a:xfrm>
            <a:prstGeom prst="roundRect">
              <a:avLst/>
            </a:prstGeom>
            <a:solidFill>
              <a:srgbClr val="EEF2F6"/>
            </a:solidFill>
            <a:ln w="9360">
              <a:solidFill>
                <a:srgbClr val="9AA6B2"/>
              </a:solidFill>
              <a:round/>
            </a:ln>
          </p:spPr>
          <p:txBody>
            <a:bodyPr lIns="94680" tIns="49680" rIns="94680" bIns="49680" anchor="ctr" anchorCtr="1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227040" y="1018400"/>
              <a:ext cx="684480" cy="2038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050" b="1" strike="noStrike" spc="-1">
                  <a:solidFill>
                    <a:srgbClr val="1B222B"/>
                  </a:solidFill>
                  <a:latin typeface="Arial"/>
                </a:rPr>
                <a:t>Return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06F09FA-FA6E-E542-0015-F143B605FBB4}"/>
              </a:ext>
            </a:extLst>
          </p:cNvPr>
          <p:cNvGrpSpPr/>
          <p:nvPr/>
        </p:nvGrpSpPr>
        <p:grpSpPr>
          <a:xfrm>
            <a:off x="4070480" y="952560"/>
            <a:ext cx="887680" cy="342720"/>
            <a:chOff x="4070480" y="952560"/>
            <a:chExt cx="887680" cy="342720"/>
          </a:xfrm>
        </p:grpSpPr>
        <p:sp>
          <p:nvSpPr>
            <p:cNvPr id="13" name="Rectangle: Rounded Corners 12"/>
            <p:cNvSpPr/>
            <p:nvPr/>
          </p:nvSpPr>
          <p:spPr>
            <a:xfrm>
              <a:off x="4095720" y="952560"/>
              <a:ext cx="857160" cy="342720"/>
            </a:xfrm>
            <a:prstGeom prst="roundRect">
              <a:avLst/>
            </a:prstGeom>
            <a:solidFill>
              <a:srgbClr val="E5F3D9"/>
            </a:solidFill>
            <a:ln w="9360">
              <a:solidFill>
                <a:srgbClr val="69B744"/>
              </a:solidFill>
              <a:round/>
            </a:ln>
          </p:spPr>
          <p:txBody>
            <a:bodyPr lIns="94680" tIns="49680" rIns="94680" bIns="49680" anchor="ctr" anchorCtr="1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070480" y="1033840"/>
              <a:ext cx="887680" cy="1733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050" b="1" strike="noStrike" spc="-1">
                  <a:solidFill>
                    <a:srgbClr val="1B222B"/>
                  </a:solidFill>
                  <a:latin typeface="Arial"/>
                </a:rPr>
                <a:t>Turn</a:t>
              </a:r>
            </a:p>
            <a:p>
              <a:pPr algn="ctr"/>
              <a:r>
                <a:rPr lang="en-US" sz="1050" b="1" strike="noStrike" spc="-1">
                  <a:solidFill>
                    <a:srgbClr val="1B222B"/>
                  </a:solidFill>
                  <a:latin typeface="Arial"/>
                </a:rPr>
                <a:t>(teacher)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5079064" y="1383926"/>
            <a:ext cx="196848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850" b="1" strike="noStrike" spc="-1">
                <a:solidFill>
                  <a:srgbClr val="5F6973"/>
                </a:solidFill>
                <a:latin typeface="Arial"/>
              </a:rPr>
              <a:t>repeat for multiple turns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638543F-7440-BC3F-FD71-60BE32784F48}"/>
              </a:ext>
            </a:extLst>
          </p:cNvPr>
          <p:cNvGrpSpPr/>
          <p:nvPr/>
        </p:nvGrpSpPr>
        <p:grpSpPr>
          <a:xfrm>
            <a:off x="4412040" y="1934120"/>
            <a:ext cx="3365640" cy="436440"/>
            <a:chOff x="4381560" y="1771560"/>
            <a:chExt cx="3365640" cy="436440"/>
          </a:xfrm>
        </p:grpSpPr>
        <p:sp>
          <p:nvSpPr>
            <p:cNvPr id="34" name="Rectangle: Rounded Corners 33"/>
            <p:cNvSpPr/>
            <p:nvPr/>
          </p:nvSpPr>
          <p:spPr>
            <a:xfrm>
              <a:off x="4381560" y="1771560"/>
              <a:ext cx="3365640" cy="419040"/>
            </a:xfrm>
            <a:prstGeom prst="roundRect">
              <a:avLst/>
            </a:prstGeom>
            <a:solidFill>
              <a:srgbClr val="D9F3F3"/>
            </a:solidFill>
            <a:ln w="11520">
              <a:solidFill>
                <a:srgbClr val="28B9B5"/>
              </a:solidFill>
              <a:round/>
            </a:ln>
          </p:spPr>
          <p:txBody>
            <a:bodyPr lIns="95760" tIns="50760" rIns="95760" bIns="50760" anchor="ctr" anchorCtr="1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455080" y="1782920"/>
              <a:ext cx="3208080" cy="2647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050" b="1" strike="noStrike" spc="-1">
                  <a:solidFill>
                    <a:srgbClr val="1B222B"/>
                  </a:solidFill>
                  <a:latin typeface="Arial"/>
                </a:rPr>
                <a:t>Repeated Rollouts → Long-Horizon Dataset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455080" y="1983880"/>
              <a:ext cx="3218240" cy="2241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850" b="0" strike="noStrike" spc="-1">
                  <a:solidFill>
                    <a:srgbClr val="34423B"/>
                  </a:solidFill>
                  <a:latin typeface="Arial"/>
                </a:rPr>
                <a:t>complete cyclic trajectories for flow matching</a:t>
              </a:r>
            </a:p>
          </p:txBody>
        </p:sp>
      </p:grpSp>
      <p:pic>
        <p:nvPicPr>
          <p:cNvPr id="37" name="Picture 36"/>
          <p:cNvPicPr/>
          <p:nvPr/>
        </p:nvPicPr>
        <p:blipFill>
          <a:blip r:embed="rId3"/>
          <a:stretch/>
        </p:blipFill>
        <p:spPr>
          <a:xfrm>
            <a:off x="8508960" y="584280"/>
            <a:ext cx="3301920" cy="1860480"/>
          </a:xfrm>
          <a:prstGeom prst="rect">
            <a:avLst/>
          </a:prstGeom>
          <a:ln w="0">
            <a:noFill/>
          </a:ln>
        </p:spPr>
      </p:pic>
      <p:sp>
        <p:nvSpPr>
          <p:cNvPr id="50" name="Straight Connector 49"/>
          <p:cNvSpPr/>
          <p:nvPr/>
        </p:nvSpPr>
        <p:spPr>
          <a:xfrm>
            <a:off x="340019" y="3519788"/>
            <a:ext cx="11684160" cy="0"/>
          </a:xfrm>
          <a:prstGeom prst="line">
            <a:avLst/>
          </a:prstGeom>
          <a:ln w="15840">
            <a:solidFill>
              <a:srgbClr val="D8DDE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7920" tIns="-52920" rIns="97920" bIns="-5292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2888904A-DC1A-0F56-4109-0BCAD11587CC}"/>
              </a:ext>
            </a:extLst>
          </p:cNvPr>
          <p:cNvGrpSpPr/>
          <p:nvPr/>
        </p:nvGrpSpPr>
        <p:grpSpPr>
          <a:xfrm>
            <a:off x="254160" y="3746520"/>
            <a:ext cx="2133720" cy="2656260"/>
            <a:chOff x="254160" y="3746520"/>
            <a:chExt cx="2133720" cy="2656260"/>
          </a:xfrm>
        </p:grpSpPr>
        <p:pic>
          <p:nvPicPr>
            <p:cNvPr id="53" name="Picture 52"/>
            <p:cNvPicPr/>
            <p:nvPr/>
          </p:nvPicPr>
          <p:blipFill>
            <a:blip r:embed="rId4"/>
            <a:stretch/>
          </p:blipFill>
          <p:spPr>
            <a:xfrm>
              <a:off x="254160" y="3746520"/>
              <a:ext cx="2133720" cy="213372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2C47F365-C16F-FE92-2965-D228AED9A1C3}"/>
                </a:ext>
              </a:extLst>
            </p:cNvPr>
            <p:cNvGrpSpPr/>
            <p:nvPr/>
          </p:nvGrpSpPr>
          <p:grpSpPr>
            <a:xfrm>
              <a:off x="254160" y="5975460"/>
              <a:ext cx="2133720" cy="427320"/>
              <a:chOff x="254160" y="5981760"/>
              <a:chExt cx="2133720" cy="427320"/>
            </a:xfrm>
          </p:grpSpPr>
          <p:sp>
            <p:nvSpPr>
              <p:cNvPr id="54" name="Rectangle: Rounded Corners 53"/>
              <p:cNvSpPr/>
              <p:nvPr/>
            </p:nvSpPr>
            <p:spPr>
              <a:xfrm>
                <a:off x="254160" y="6011280"/>
                <a:ext cx="2133720" cy="368280"/>
              </a:xfrm>
              <a:prstGeom prst="roundRect">
                <a:avLst/>
              </a:prstGeom>
              <a:solidFill>
                <a:srgbClr val="EEF2F6"/>
              </a:solidFill>
              <a:ln w="9360">
                <a:solidFill>
                  <a:srgbClr val="AEB8C3"/>
                </a:solidFill>
                <a:round/>
              </a:ln>
            </p:spPr>
            <p:txBody>
              <a:bodyPr lIns="94680" tIns="49680" rIns="94680" bIns="49680" anchor="ctr" anchorCtr="1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292320" y="5981760"/>
                <a:ext cx="2057400" cy="4273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tIns="45000" rIns="90000" bIns="45000" anchor="ctr">
                <a:noAutofit/>
              </a:bodyPr>
              <a:lstStyle/>
              <a:p>
                <a:pPr algn="ctr"/>
                <a:r>
                  <a:rPr lang="en-US" sz="1750" b="1" strike="noStrike" spc="-1">
                    <a:solidFill>
                      <a:srgbClr val="1B222B"/>
                    </a:solidFill>
                    <a:latin typeface="Arial"/>
                  </a:rPr>
                  <a:t>Initial Pose</a:t>
                </a:r>
              </a:p>
            </p:txBody>
          </p:sp>
        </p:grp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F2789F3-C38A-F50B-8BD3-7DFCA64EC2AF}"/>
              </a:ext>
            </a:extLst>
          </p:cNvPr>
          <p:cNvGrpSpPr/>
          <p:nvPr/>
        </p:nvGrpSpPr>
        <p:grpSpPr>
          <a:xfrm>
            <a:off x="8693240" y="2579352"/>
            <a:ext cx="2969215" cy="384414"/>
            <a:chOff x="8693240" y="2579352"/>
            <a:chExt cx="2969215" cy="384414"/>
          </a:xfrm>
        </p:grpSpPr>
        <p:sp>
          <p:nvSpPr>
            <p:cNvPr id="38" name="Rectangle: Rounded Corners 37"/>
            <p:cNvSpPr/>
            <p:nvPr/>
          </p:nvSpPr>
          <p:spPr>
            <a:xfrm>
              <a:off x="8693240" y="2579352"/>
              <a:ext cx="2969215" cy="384414"/>
            </a:xfrm>
            <a:prstGeom prst="roundRect">
              <a:avLst/>
            </a:prstGeom>
            <a:solidFill>
              <a:srgbClr val="F9DFE4"/>
            </a:solidFill>
            <a:ln w="15840">
              <a:solidFill>
                <a:srgbClr val="EEA9B6"/>
              </a:solidFill>
              <a:round/>
            </a:ln>
          </p:spPr>
          <p:txBody>
            <a:bodyPr lIns="97920" tIns="52920" rIns="97920" bIns="52920" anchor="ctr" anchorCtr="1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805930" y="2692042"/>
              <a:ext cx="2738907" cy="169744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050" b="1" strike="noStrike" spc="-1">
                  <a:solidFill>
                    <a:srgbClr val="1B222B"/>
                  </a:solidFill>
                  <a:latin typeface="Arial"/>
                </a:rPr>
                <a:t>3  Vision-Conditioned Flow </a:t>
              </a:r>
              <a:r>
                <a:rPr lang="en-US" sz="1050" b="1" spc="-1">
                  <a:solidFill>
                    <a:srgbClr val="1B222B"/>
                  </a:solidFill>
                  <a:latin typeface="Arial"/>
                </a:rPr>
                <a:t>Matching</a:t>
              </a:r>
              <a:endParaRPr lang="en-US" sz="1050" b="1" strike="noStrike" spc="-1">
                <a:solidFill>
                  <a:srgbClr val="1B222B"/>
                </a:solidFill>
                <a:latin typeface="Arial"/>
              </a:endParaRP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B75C0337-1193-7CC1-F0C9-958E4C1999EA}"/>
              </a:ext>
            </a:extLst>
          </p:cNvPr>
          <p:cNvGrpSpPr/>
          <p:nvPr/>
        </p:nvGrpSpPr>
        <p:grpSpPr>
          <a:xfrm>
            <a:off x="2641680" y="3746520"/>
            <a:ext cx="2133720" cy="2656260"/>
            <a:chOff x="2641680" y="3746520"/>
            <a:chExt cx="2133720" cy="2656260"/>
          </a:xfrm>
        </p:grpSpPr>
        <p:pic>
          <p:nvPicPr>
            <p:cNvPr id="56" name="Picture 55"/>
            <p:cNvPicPr/>
            <p:nvPr/>
          </p:nvPicPr>
          <p:blipFill>
            <a:blip r:embed="rId5"/>
            <a:stretch/>
          </p:blipFill>
          <p:spPr>
            <a:xfrm>
              <a:off x="2641680" y="3746520"/>
              <a:ext cx="2133720" cy="213372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76CD1C85-4C5D-A0F1-2C80-A9572C6B5A9D}"/>
                </a:ext>
              </a:extLst>
            </p:cNvPr>
            <p:cNvGrpSpPr/>
            <p:nvPr/>
          </p:nvGrpSpPr>
          <p:grpSpPr>
            <a:xfrm>
              <a:off x="2641680" y="5975460"/>
              <a:ext cx="2133720" cy="427320"/>
              <a:chOff x="2641680" y="5981760"/>
              <a:chExt cx="2133720" cy="427320"/>
            </a:xfrm>
          </p:grpSpPr>
          <p:sp>
            <p:nvSpPr>
              <p:cNvPr id="57" name="Rectangle: Rounded Corners 56"/>
              <p:cNvSpPr/>
              <p:nvPr/>
            </p:nvSpPr>
            <p:spPr>
              <a:xfrm>
                <a:off x="2641680" y="6011280"/>
                <a:ext cx="2133720" cy="368280"/>
              </a:xfrm>
              <a:prstGeom prst="roundRect">
                <a:avLst/>
              </a:prstGeom>
              <a:solidFill>
                <a:srgbClr val="EEF2F6"/>
              </a:solidFill>
              <a:ln w="9360">
                <a:solidFill>
                  <a:srgbClr val="AEB8C3"/>
                </a:solidFill>
                <a:round/>
              </a:ln>
            </p:spPr>
            <p:txBody>
              <a:bodyPr lIns="94680" tIns="49680" rIns="94680" bIns="49680" anchor="ctr" anchorCtr="1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2679840" y="5981760"/>
                <a:ext cx="2057400" cy="4273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tIns="45000" rIns="90000" bIns="45000" anchor="ctr">
                <a:noAutofit/>
              </a:bodyPr>
              <a:lstStyle/>
              <a:p>
                <a:pPr algn="ctr"/>
                <a:r>
                  <a:rPr lang="en-US" sz="1750" b="1" strike="noStrike" spc="-1">
                    <a:solidFill>
                      <a:srgbClr val="1B222B"/>
                    </a:solidFill>
                    <a:latin typeface="Arial"/>
                  </a:rPr>
                  <a:t>Grasp</a:t>
                </a:r>
              </a:p>
            </p:txBody>
          </p:sp>
        </p:grp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F8301234-7110-0FF1-D702-5C5071F6C112}"/>
              </a:ext>
            </a:extLst>
          </p:cNvPr>
          <p:cNvGrpSpPr/>
          <p:nvPr/>
        </p:nvGrpSpPr>
        <p:grpSpPr>
          <a:xfrm>
            <a:off x="5029200" y="3746520"/>
            <a:ext cx="2133720" cy="2656260"/>
            <a:chOff x="5029200" y="3746520"/>
            <a:chExt cx="2133720" cy="2656260"/>
          </a:xfrm>
        </p:grpSpPr>
        <p:pic>
          <p:nvPicPr>
            <p:cNvPr id="59" name="Picture 58"/>
            <p:cNvPicPr/>
            <p:nvPr/>
          </p:nvPicPr>
          <p:blipFill>
            <a:blip r:embed="rId6"/>
            <a:stretch/>
          </p:blipFill>
          <p:spPr>
            <a:xfrm>
              <a:off x="5029200" y="3746520"/>
              <a:ext cx="2133720" cy="213372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BDB5393E-A664-542C-EB4E-37907B9679CD}"/>
                </a:ext>
              </a:extLst>
            </p:cNvPr>
            <p:cNvGrpSpPr/>
            <p:nvPr/>
          </p:nvGrpSpPr>
          <p:grpSpPr>
            <a:xfrm>
              <a:off x="5029200" y="5975460"/>
              <a:ext cx="2133720" cy="427320"/>
              <a:chOff x="5029200" y="5981760"/>
              <a:chExt cx="2133720" cy="427320"/>
            </a:xfrm>
          </p:grpSpPr>
          <p:sp>
            <p:nvSpPr>
              <p:cNvPr id="60" name="Rectangle: Rounded Corners 59"/>
              <p:cNvSpPr/>
              <p:nvPr/>
            </p:nvSpPr>
            <p:spPr>
              <a:xfrm>
                <a:off x="5029200" y="6011280"/>
                <a:ext cx="2133720" cy="368280"/>
              </a:xfrm>
              <a:prstGeom prst="roundRect">
                <a:avLst/>
              </a:prstGeom>
              <a:solidFill>
                <a:srgbClr val="EEF2F6"/>
              </a:solidFill>
              <a:ln w="9360">
                <a:solidFill>
                  <a:srgbClr val="AEB8C3"/>
                </a:solidFill>
                <a:round/>
              </a:ln>
            </p:spPr>
            <p:txBody>
              <a:bodyPr lIns="94680" tIns="49680" rIns="94680" bIns="49680" anchor="ctr" anchorCtr="1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5067360" y="5981760"/>
                <a:ext cx="2057400" cy="4273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tIns="45000" rIns="90000" bIns="45000" anchor="ctr">
                <a:noAutofit/>
              </a:bodyPr>
              <a:lstStyle/>
              <a:p>
                <a:pPr algn="ctr"/>
                <a:r>
                  <a:rPr lang="en-US" sz="1750" b="1" strike="noStrike" spc="-1">
                    <a:solidFill>
                      <a:srgbClr val="1B222B"/>
                    </a:solidFill>
                    <a:latin typeface="Arial"/>
                  </a:rPr>
                  <a:t>Rotate</a:t>
                </a:r>
              </a:p>
            </p:txBody>
          </p:sp>
        </p:grp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12F2425D-D7AB-B109-C774-80F741CCAD68}"/>
              </a:ext>
            </a:extLst>
          </p:cNvPr>
          <p:cNvGrpSpPr/>
          <p:nvPr/>
        </p:nvGrpSpPr>
        <p:grpSpPr>
          <a:xfrm>
            <a:off x="7416720" y="3746520"/>
            <a:ext cx="2133720" cy="2656260"/>
            <a:chOff x="7416720" y="3746520"/>
            <a:chExt cx="2133720" cy="2656260"/>
          </a:xfrm>
        </p:grpSpPr>
        <p:pic>
          <p:nvPicPr>
            <p:cNvPr id="62" name="Picture 61"/>
            <p:cNvPicPr/>
            <p:nvPr/>
          </p:nvPicPr>
          <p:blipFill>
            <a:blip r:embed="rId7"/>
            <a:stretch/>
          </p:blipFill>
          <p:spPr>
            <a:xfrm>
              <a:off x="7416720" y="3746520"/>
              <a:ext cx="2133720" cy="213372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9165B3EF-4286-5DB6-8E8D-FECB67FC9E59}"/>
                </a:ext>
              </a:extLst>
            </p:cNvPr>
            <p:cNvGrpSpPr/>
            <p:nvPr/>
          </p:nvGrpSpPr>
          <p:grpSpPr>
            <a:xfrm>
              <a:off x="7416720" y="5975460"/>
              <a:ext cx="2133720" cy="427320"/>
              <a:chOff x="7416720" y="5981760"/>
              <a:chExt cx="2133720" cy="427320"/>
            </a:xfrm>
          </p:grpSpPr>
          <p:sp>
            <p:nvSpPr>
              <p:cNvPr id="63" name="Rectangle: Rounded Corners 62"/>
              <p:cNvSpPr/>
              <p:nvPr/>
            </p:nvSpPr>
            <p:spPr>
              <a:xfrm>
                <a:off x="7416720" y="6011280"/>
                <a:ext cx="2133720" cy="368280"/>
              </a:xfrm>
              <a:prstGeom prst="roundRect">
                <a:avLst/>
              </a:prstGeom>
              <a:solidFill>
                <a:srgbClr val="EEF2F6"/>
              </a:solidFill>
              <a:ln w="9360">
                <a:solidFill>
                  <a:srgbClr val="AEB8C3"/>
                </a:solidFill>
                <a:round/>
              </a:ln>
            </p:spPr>
            <p:txBody>
              <a:bodyPr lIns="94680" tIns="49680" rIns="94680" bIns="49680" anchor="ctr" anchorCtr="1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7454880" y="5981760"/>
                <a:ext cx="2057400" cy="4273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tIns="45000" rIns="90000" bIns="45000" anchor="ctr">
                <a:noAutofit/>
              </a:bodyPr>
              <a:lstStyle/>
              <a:p>
                <a:pPr algn="ctr"/>
                <a:r>
                  <a:rPr lang="en-US" sz="1750" b="1" strike="noStrike" spc="-1">
                    <a:solidFill>
                      <a:srgbClr val="1B222B"/>
                    </a:solidFill>
                    <a:latin typeface="Arial"/>
                  </a:rPr>
                  <a:t>Release</a:t>
                </a:r>
              </a:p>
            </p:txBody>
          </p:sp>
        </p:grp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114618A7-BF41-D74D-7B4D-4ABC7794891F}"/>
              </a:ext>
            </a:extLst>
          </p:cNvPr>
          <p:cNvGrpSpPr/>
          <p:nvPr/>
        </p:nvGrpSpPr>
        <p:grpSpPr>
          <a:xfrm>
            <a:off x="9804600" y="3746520"/>
            <a:ext cx="2133720" cy="2626740"/>
            <a:chOff x="9804600" y="3746520"/>
            <a:chExt cx="2133720" cy="2626740"/>
          </a:xfrm>
        </p:grpSpPr>
        <p:pic>
          <p:nvPicPr>
            <p:cNvPr id="65" name="Picture 64"/>
            <p:cNvPicPr/>
            <p:nvPr/>
          </p:nvPicPr>
          <p:blipFill>
            <a:blip r:embed="rId8"/>
            <a:stretch/>
          </p:blipFill>
          <p:spPr>
            <a:xfrm>
              <a:off x="9804600" y="3746520"/>
              <a:ext cx="2133720" cy="213372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4F5A6424-61D5-7E69-F521-902647880BAE}"/>
                </a:ext>
              </a:extLst>
            </p:cNvPr>
            <p:cNvGrpSpPr/>
            <p:nvPr/>
          </p:nvGrpSpPr>
          <p:grpSpPr>
            <a:xfrm>
              <a:off x="9804600" y="6004980"/>
              <a:ext cx="2133720" cy="368280"/>
              <a:chOff x="9804600" y="5969160"/>
              <a:chExt cx="2133720" cy="368280"/>
            </a:xfrm>
          </p:grpSpPr>
          <p:sp>
            <p:nvSpPr>
              <p:cNvPr id="66" name="Rectangle: Rounded Corners 65"/>
              <p:cNvSpPr/>
              <p:nvPr/>
            </p:nvSpPr>
            <p:spPr>
              <a:xfrm>
                <a:off x="9804600" y="5969160"/>
                <a:ext cx="2133720" cy="368280"/>
              </a:xfrm>
              <a:prstGeom prst="roundRect">
                <a:avLst/>
              </a:prstGeom>
              <a:solidFill>
                <a:srgbClr val="EEF2F6"/>
              </a:solidFill>
              <a:ln w="9360">
                <a:solidFill>
                  <a:srgbClr val="AEB8C3"/>
                </a:solidFill>
                <a:round/>
              </a:ln>
            </p:spPr>
            <p:txBody>
              <a:bodyPr lIns="94680" tIns="49680" rIns="94680" bIns="49680" anchor="ctr" anchorCtr="1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9887400" y="5981760"/>
                <a:ext cx="1968120" cy="34308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tIns="45000" rIns="90000" bIns="45000" anchor="ctr">
                <a:noAutofit/>
              </a:bodyPr>
              <a:lstStyle/>
              <a:p>
                <a:pPr algn="ctr"/>
                <a:r>
                  <a:rPr lang="en-US" sz="1750" b="1" strike="noStrike" spc="-1">
                    <a:solidFill>
                      <a:srgbClr val="1B222B"/>
                    </a:solidFill>
                    <a:latin typeface="Arial"/>
                  </a:rPr>
                  <a:t>Reset</a:t>
                </a:r>
              </a:p>
            </p:txBody>
          </p:sp>
        </p:grpSp>
      </p:grp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F3E22C63-E362-09D3-67F2-AD2BF0B40332}"/>
              </a:ext>
            </a:extLst>
          </p:cNvPr>
          <p:cNvCxnSpPr>
            <a:cxnSpLocks/>
          </p:cNvCxnSpPr>
          <p:nvPr/>
        </p:nvCxnSpPr>
        <p:spPr>
          <a:xfrm flipV="1">
            <a:off x="8221779" y="1487186"/>
            <a:ext cx="261145" cy="35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4667400" y="6561900"/>
            <a:ext cx="2787480" cy="2388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150" b="1" strike="noStrike" spc="-1">
                <a:solidFill>
                  <a:srgbClr val="5D6670"/>
                </a:solidFill>
                <a:latin typeface="Arial"/>
              </a:rPr>
              <a:t>cyclic return and re-engagement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AC92F2F0-FF18-7457-0852-DB150C8F40C7}"/>
              </a:ext>
            </a:extLst>
          </p:cNvPr>
          <p:cNvCxnSpPr/>
          <p:nvPr/>
        </p:nvCxnSpPr>
        <p:spPr>
          <a:xfrm flipV="1">
            <a:off x="3639046" y="1487187"/>
            <a:ext cx="261145" cy="35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7585F3B-FC5A-505B-B9AF-F890CB2E049B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4958160" y="1120500"/>
            <a:ext cx="159960" cy="34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5AD378F0-B23C-5DAA-8718-36FE108F4F21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5975280" y="1123920"/>
            <a:ext cx="1652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6BEF37B3-0CA8-0CAF-15B9-EABBD943388C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7004324" y="1118865"/>
            <a:ext cx="163476" cy="16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694E35B9-96C7-DDE9-AFF9-B763DF219726}"/>
              </a:ext>
            </a:extLst>
          </p:cNvPr>
          <p:cNvCxnSpPr/>
          <p:nvPr/>
        </p:nvCxnSpPr>
        <p:spPr>
          <a:xfrm>
            <a:off x="3884950" y="74950"/>
            <a:ext cx="914400" cy="9144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9AF08894-9626-89C6-CDDC-9DD3156E58F6}"/>
              </a:ext>
            </a:extLst>
          </p:cNvPr>
          <p:cNvCxnSpPr>
            <a:cxnSpLocks/>
          </p:cNvCxnSpPr>
          <p:nvPr/>
        </p:nvCxnSpPr>
        <p:spPr>
          <a:xfrm rot="5400000">
            <a:off x="6044810" y="-242711"/>
            <a:ext cx="12700" cy="3073680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Group 94">
            <a:extLst>
              <a:ext uri="{FF2B5EF4-FFF2-40B4-BE49-F238E27FC236}">
                <a16:creationId xmlns:a16="http://schemas.microsoft.com/office/drawing/2014/main" id="{85B471CF-A8F7-26FD-C440-5CB750E73746}"/>
              </a:ext>
            </a:extLst>
          </p:cNvPr>
          <p:cNvGrpSpPr/>
          <p:nvPr/>
        </p:nvGrpSpPr>
        <p:grpSpPr>
          <a:xfrm>
            <a:off x="4758792" y="3325269"/>
            <a:ext cx="2661615" cy="381007"/>
            <a:chOff x="9176197" y="3008648"/>
            <a:chExt cx="2003938" cy="415302"/>
          </a:xfrm>
        </p:grpSpPr>
        <p:sp>
          <p:nvSpPr>
            <p:cNvPr id="45" name="Rectangle: Rounded Corners 44"/>
            <p:cNvSpPr/>
            <p:nvPr/>
          </p:nvSpPr>
          <p:spPr>
            <a:xfrm>
              <a:off x="9176197" y="3008648"/>
              <a:ext cx="2003938" cy="415302"/>
            </a:xfrm>
            <a:prstGeom prst="roundRect">
              <a:avLst/>
            </a:prstGeom>
            <a:solidFill>
              <a:srgbClr val="EEE5F3"/>
            </a:solidFill>
            <a:ln w="9360">
              <a:solidFill>
                <a:srgbClr val="B997C9"/>
              </a:solidFill>
              <a:round/>
            </a:ln>
          </p:spPr>
          <p:txBody>
            <a:bodyPr lIns="94680" tIns="49680" rIns="94680" bIns="49680" anchor="ctr" anchorCtr="1">
              <a:noAutofit/>
            </a:bodyPr>
            <a:lstStyle/>
            <a:p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176199" y="3110606"/>
              <a:ext cx="2002742" cy="212672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ctr">
              <a:noAutofit/>
            </a:bodyPr>
            <a:lstStyle/>
            <a:p>
              <a:pPr algn="ctr"/>
              <a:r>
                <a:rPr lang="en-US" sz="1050" b="1" spc="-1">
                  <a:solidFill>
                    <a:srgbClr val="292030"/>
                  </a:solidFill>
                  <a:latin typeface="Arial"/>
                </a:rPr>
                <a:t>4 </a:t>
              </a:r>
              <a:r>
                <a:rPr lang="en-US" sz="1050" b="1" strike="noStrike" spc="-1">
                  <a:solidFill>
                    <a:srgbClr val="292030"/>
                  </a:solidFill>
                  <a:latin typeface="Arial"/>
                </a:rPr>
                <a:t>Sim-to-Real Deployment</a:t>
              </a:r>
            </a:p>
          </p:txBody>
        </p:sp>
      </p:grp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DE2CA45A-10B8-CC40-C26E-3CB6AEDEAAB6}"/>
              </a:ext>
            </a:extLst>
          </p:cNvPr>
          <p:cNvCxnSpPr>
            <a:cxnSpLocks/>
            <a:stCxn id="38" idx="2"/>
            <a:endCxn id="45" idx="0"/>
          </p:cNvCxnSpPr>
          <p:nvPr/>
        </p:nvCxnSpPr>
        <p:spPr>
          <a:xfrm rot="5400000">
            <a:off x="7952973" y="1100393"/>
            <a:ext cx="361503" cy="4088248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2EFA0E17-43A7-E1FF-A658-D7E16E482517}"/>
              </a:ext>
            </a:extLst>
          </p:cNvPr>
          <p:cNvCxnSpPr>
            <a:cxnSpLocks/>
            <a:stCxn id="67" idx="2"/>
          </p:cNvCxnSpPr>
          <p:nvPr/>
        </p:nvCxnSpPr>
        <p:spPr>
          <a:xfrm rot="16200000" flipH="1">
            <a:off x="10840950" y="6391170"/>
            <a:ext cx="975420" cy="9144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97B2E26D-ADFE-C271-9FDD-08C2F424B153}"/>
              </a:ext>
            </a:extLst>
          </p:cNvPr>
          <p:cNvCxnSpPr>
            <a:cxnSpLocks/>
            <a:stCxn id="66" idx="2"/>
            <a:endCxn id="55" idx="2"/>
          </p:cNvCxnSpPr>
          <p:nvPr/>
        </p:nvCxnSpPr>
        <p:spPr>
          <a:xfrm rot="5400000">
            <a:off x="6081480" y="1612800"/>
            <a:ext cx="29520" cy="9550440"/>
          </a:xfrm>
          <a:prstGeom prst="bentConnector3">
            <a:avLst>
              <a:gd name="adj1" fmla="val 65154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83096ABB-AC07-D43F-38E5-4755D95CFC80}"/>
              </a:ext>
            </a:extLst>
          </p:cNvPr>
          <p:cNvGrpSpPr/>
          <p:nvPr/>
        </p:nvGrpSpPr>
        <p:grpSpPr>
          <a:xfrm>
            <a:off x="2176640" y="1"/>
            <a:ext cx="7838714" cy="2125457"/>
            <a:chOff x="2176643" y="104701"/>
            <a:chExt cx="7838714" cy="2125457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9EBE87B-D783-1EA4-3AC8-953AABB2C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2176643" y="104701"/>
              <a:ext cx="2125456" cy="2125456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7510A4C-288D-4E79-B42E-D3849B4B98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033271" y="104701"/>
              <a:ext cx="2125457" cy="2125457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7A30D04B-309E-E276-D271-B94B3A13D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7889900" y="104701"/>
              <a:ext cx="2125457" cy="2125457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70BA0BD-ACAE-B01D-753B-6BBD66C038A6}"/>
              </a:ext>
            </a:extLst>
          </p:cNvPr>
          <p:cNvGrpSpPr/>
          <p:nvPr/>
        </p:nvGrpSpPr>
        <p:grpSpPr>
          <a:xfrm>
            <a:off x="2176642" y="2366271"/>
            <a:ext cx="7838715" cy="2125457"/>
            <a:chOff x="2176642" y="2488422"/>
            <a:chExt cx="7838715" cy="2125457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2759A81-231F-57BE-B6A0-C8C2AE27B1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2176642" y="2488422"/>
              <a:ext cx="2125457" cy="2125457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F8634C41-ED38-DC72-44FC-F75DEC3371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033271" y="2488422"/>
              <a:ext cx="2125457" cy="2125457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9EFF905-F6E1-65D7-5755-39267E090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7889900" y="2488422"/>
              <a:ext cx="2125457" cy="2125457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CC4DD11-67D2-0F90-2CB5-D3260EAA5243}"/>
              </a:ext>
            </a:extLst>
          </p:cNvPr>
          <p:cNvGrpSpPr/>
          <p:nvPr/>
        </p:nvGrpSpPr>
        <p:grpSpPr>
          <a:xfrm>
            <a:off x="2176640" y="4732541"/>
            <a:ext cx="7838717" cy="2125460"/>
            <a:chOff x="2176640" y="4732541"/>
            <a:chExt cx="7838717" cy="2125460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75F340E8-8F62-FB58-452E-6F01F52C16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2176640" y="4732541"/>
              <a:ext cx="2125459" cy="2125459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C77262CB-1703-2DB0-B246-62919B1A1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033268" y="4732541"/>
              <a:ext cx="2125460" cy="2125460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98F2DFBC-79E4-7155-FB3E-3579C6361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7889901" y="4732542"/>
              <a:ext cx="2125456" cy="21254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2393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revision>4</cp:revision>
  <dcterms:modified xsi:type="dcterms:W3CDTF">2026-09-14T19:52:03Z</dcterms:modified>
  <dc:language>en-US</dc:language>
</cp:coreProperties>
</file>